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9" r:id="rId8"/>
    <p:sldId id="270" r:id="rId9"/>
    <p:sldId id="265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97" autoAdjust="0"/>
    <p:restoredTop sz="94660"/>
  </p:normalViewPr>
  <p:slideViewPr>
    <p:cSldViewPr snapToGrid="0">
      <p:cViewPr varScale="1">
        <p:scale>
          <a:sx n="86" d="100"/>
          <a:sy n="86" d="100"/>
        </p:scale>
        <p:origin x="4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7104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366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9072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1984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578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047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86379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266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4317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48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7397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91805D-856D-423E-8D69-B3AC8AAB8B0C}" type="datetimeFigureOut">
              <a:rPr lang="en-CA" smtClean="0"/>
              <a:t>28/01/2019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50A1E8F0-30D8-416C-833B-5A051C54965F}" type="slidenum">
              <a:rPr lang="en-CA" smtClean="0"/>
              <a:t>‹#›</a:t>
            </a:fld>
            <a:endParaRPr lang="en-CA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61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854B184-5E69-4965-82D3-2E9183B7605A}"/>
              </a:ext>
            </a:extLst>
          </p:cNvPr>
          <p:cNvSpPr/>
          <p:nvPr/>
        </p:nvSpPr>
        <p:spPr>
          <a:xfrm>
            <a:off x="3363524" y="1440376"/>
            <a:ext cx="5464958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0" cap="none" spc="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DES  Algorithm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724219-0F4E-40AC-AA6B-D4A0023691E6}"/>
              </a:ext>
            </a:extLst>
          </p:cNvPr>
          <p:cNvSpPr txBox="1"/>
          <p:nvPr/>
        </p:nvSpPr>
        <p:spPr>
          <a:xfrm>
            <a:off x="9099612" y="4740676"/>
            <a:ext cx="2441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Submitted By</a:t>
            </a:r>
          </a:p>
          <a:p>
            <a:r>
              <a:rPr lang="en-CA" dirty="0"/>
              <a:t>Mehak ( 2018MCS2143)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6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3AAE2-6552-4F0D-8073-0C7E65FA8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SPECIFICATION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159E1D-23F3-4EDD-85E3-95619433800A}"/>
              </a:ext>
            </a:extLst>
          </p:cNvPr>
          <p:cNvSpPr txBox="1"/>
          <p:nvPr/>
        </p:nvSpPr>
        <p:spPr>
          <a:xfrm>
            <a:off x="1393954" y="2141925"/>
            <a:ext cx="738187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OS = Linux</a:t>
            </a:r>
          </a:p>
          <a:p>
            <a:endParaRPr lang="en-CA" dirty="0"/>
          </a:p>
          <a:p>
            <a:r>
              <a:rPr lang="en-CA" dirty="0"/>
              <a:t>Language used = C++</a:t>
            </a:r>
          </a:p>
          <a:p>
            <a:endParaRPr lang="en-CA" dirty="0"/>
          </a:p>
          <a:p>
            <a:r>
              <a:rPr lang="en-CA" dirty="0"/>
              <a:t>Input = 16 char plaintext in hexadecimal, 16 char key in hexadecimal</a:t>
            </a:r>
          </a:p>
          <a:p>
            <a:endParaRPr lang="en-CA" dirty="0"/>
          </a:p>
          <a:p>
            <a:r>
              <a:rPr lang="en-CA" dirty="0"/>
              <a:t>Output = Keys for 16 rounds (in hex), Ciphertext after each round of encryption (in hex), Plaintext after each round of decryption (in hex).</a:t>
            </a:r>
          </a:p>
          <a:p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58232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B28B-736C-401F-97CB-5727F1762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04" y="846240"/>
            <a:ext cx="9603275" cy="1049235"/>
          </a:xfrm>
        </p:spPr>
        <p:txBody>
          <a:bodyPr/>
          <a:lstStyle/>
          <a:p>
            <a:r>
              <a:rPr lang="en-US" dirty="0"/>
              <a:t>SYSTEM DESIGN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482FC7-D336-4163-8D16-F915CE037D6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461104" y="1908126"/>
            <a:ext cx="9603274" cy="498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749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E074D-8A27-44FF-8A03-F4F68AC2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054" y="342900"/>
            <a:ext cx="9603275" cy="1049235"/>
          </a:xfrm>
        </p:spPr>
        <p:txBody>
          <a:bodyPr/>
          <a:lstStyle/>
          <a:p>
            <a:r>
              <a:rPr lang="en-US" dirty="0"/>
              <a:t>KEY Generation step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7FA470-2739-404D-84DA-60419565BA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909637"/>
            <a:ext cx="10359529" cy="571976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1FCF059-8638-4474-BD49-6FE4C29F969E}"/>
              </a:ext>
            </a:extLst>
          </p:cNvPr>
          <p:cNvSpPr txBox="1"/>
          <p:nvPr/>
        </p:nvSpPr>
        <p:spPr>
          <a:xfrm>
            <a:off x="11087100" y="6106894"/>
            <a:ext cx="1104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Img</a:t>
            </a:r>
            <a:r>
              <a:rPr lang="en-US" dirty="0"/>
              <a:t> ref: Internet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37330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0388D-A016-4360-8A48-2A7937E28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generation in system</a:t>
            </a:r>
            <a:endParaRPr lang="en-C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273724-4717-4C29-8818-9BC961FDC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8" y="1853754"/>
            <a:ext cx="9603275" cy="47867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2944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F0031-4D9E-442D-A40D-4CEF2549A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1125" y="213969"/>
            <a:ext cx="9603275" cy="1049235"/>
          </a:xfrm>
        </p:spPr>
        <p:txBody>
          <a:bodyPr/>
          <a:lstStyle/>
          <a:p>
            <a:r>
              <a:rPr lang="en-US" dirty="0"/>
              <a:t>Encryption &amp; DECRYPTION step</a:t>
            </a:r>
            <a:endParaRPr lang="en-CA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E2FD4C0-321E-4D1C-B310-EBF0CEB27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275" y="723901"/>
            <a:ext cx="9997579" cy="61341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24D8C8D-558F-41D9-8F5A-3B8545C10BA3}"/>
              </a:ext>
            </a:extLst>
          </p:cNvPr>
          <p:cNvSpPr/>
          <p:nvPr/>
        </p:nvSpPr>
        <p:spPr>
          <a:xfrm>
            <a:off x="11134725" y="6206609"/>
            <a:ext cx="93968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Img</a:t>
            </a:r>
            <a:r>
              <a:rPr lang="en-US" dirty="0"/>
              <a:t> ref: </a:t>
            </a:r>
          </a:p>
          <a:p>
            <a:r>
              <a:rPr lang="en-US" dirty="0"/>
              <a:t>Internet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83967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39BA-C84D-4961-93CF-7F421920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Encryption step in system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757B9-154F-4FA8-A7B9-1EA98126D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61"/>
          <a:stretch/>
        </p:blipFill>
        <p:spPr>
          <a:xfrm>
            <a:off x="1333062" y="1853754"/>
            <a:ext cx="9840308" cy="501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5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739BA-C84D-4961-93CF-7F4219208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decryption step in system</a:t>
            </a:r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0D0F75-0D68-4E56-BDF3-ACD0AB8F3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7" y="1853755"/>
            <a:ext cx="11210925" cy="500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09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A78A2-EEB8-4D7D-A1A1-BA6A68F8A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des system</a:t>
            </a:r>
            <a:endParaRPr lang="en-CA" dirty="0"/>
          </a:p>
        </p:txBody>
      </p:sp>
      <p:pic>
        <p:nvPicPr>
          <p:cNvPr id="2050" name="Picture 2" descr="https://lh3.googleusercontent.com/5SeCm56zdn_UG87Dzg38VMA2fwKzljed-eXDEefJ9R1FQ7K40U2eAf443nTculPVk8wrrqScnKhrFc9aVLjj6Z8M81ZERQfWBz68NYIUOjV7mC2Z7X_wqXzgQDn9qaD3g174T3Xm">
            <a:extLst>
              <a:ext uri="{FF2B5EF4-FFF2-40B4-BE49-F238E27FC236}">
                <a16:creationId xmlns:a16="http://schemas.microsoft.com/office/drawing/2014/main" id="{71590065-9455-4250-A115-590E0E9D61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38" r="10859"/>
          <a:stretch/>
        </p:blipFill>
        <p:spPr bwMode="auto">
          <a:xfrm>
            <a:off x="232379" y="1531144"/>
            <a:ext cx="4644421" cy="509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lh3.googleusercontent.com/heK16uWg1KKvaa1ywHeIOqbymZuavEoZxbq8pWSetv8GN7MkTwoc2NlmW4KN5K82LSBrDobUM_IWcWa-si7R_TMopakXLc33ulDE5kDAyqlpnsqf9oc1Qhd_a_unGw0Z0PCC_MWw">
            <a:extLst>
              <a:ext uri="{FF2B5EF4-FFF2-40B4-BE49-F238E27FC236}">
                <a16:creationId xmlns:a16="http://schemas.microsoft.com/office/drawing/2014/main" id="{060A5DF8-4C08-4388-853B-D3283E52EC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8" t="4209" r="4647" b="3125"/>
          <a:stretch/>
        </p:blipFill>
        <p:spPr bwMode="auto">
          <a:xfrm>
            <a:off x="4876799" y="1531144"/>
            <a:ext cx="7153275" cy="5091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23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59F45-780A-4F43-BC31-B6CC97A321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4D62ED6-9976-49E5-9E9A-55F1506F790F}"/>
              </a:ext>
            </a:extLst>
          </p:cNvPr>
          <p:cNvSpPr/>
          <p:nvPr/>
        </p:nvSpPr>
        <p:spPr>
          <a:xfrm>
            <a:off x="1451578" y="2402707"/>
            <a:ext cx="960327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Avalanche Effect : </a:t>
            </a:r>
          </a:p>
          <a:p>
            <a:r>
              <a:rPr lang="en-CA" dirty="0"/>
              <a:t>Avalanche effect means a small change in the plaintext (or key) should create a </a:t>
            </a:r>
            <a:r>
              <a:rPr lang="en-CA" dirty="0" err="1"/>
              <a:t>signifi</a:t>
            </a:r>
            <a:r>
              <a:rPr lang="en-CA" dirty="0"/>
              <a:t> cant change in the ciphertext. DES has been proved to be strong with regard to this property. 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Completeness Effect:</a:t>
            </a:r>
          </a:p>
          <a:p>
            <a:r>
              <a:rPr lang="en-CA" dirty="0"/>
              <a:t>Completeness effect means that each bit of the ciphertext needs to depend on many bits on the plaintext. The diffusion and confusion produced by D-boxes and S-boxes in DES, show a very strong completeness effect.</a:t>
            </a:r>
          </a:p>
        </p:txBody>
      </p:sp>
    </p:spTree>
    <p:extLst>
      <p:ext uri="{BB962C8B-B14F-4D97-AF65-F5344CB8AC3E}">
        <p14:creationId xmlns:p14="http://schemas.microsoft.com/office/powerpoint/2010/main" val="1172679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ABA59-A628-4CA0-ABC8-3711E139F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Weaknesses 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73D74-D053-4116-9E8B-2EC0EEFBD365}"/>
              </a:ext>
            </a:extLst>
          </p:cNvPr>
          <p:cNvSpPr txBox="1"/>
          <p:nvPr/>
        </p:nvSpPr>
        <p:spPr>
          <a:xfrm>
            <a:off x="1562470" y="2210540"/>
            <a:ext cx="803429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Key Size : Critics believe that the most serious weakness of DES is in its key size (56 bits). To do a brute-force attack on a given ciphertext block, the adversary needs to check 256 keys. </a:t>
            </a:r>
          </a:p>
          <a:p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/>
              <a:t>Weak Keys and Semi-weak keys : Four out of 256 possible keys are called weak keys. A weak key or semi weak key can be easily found by the adversary using their properties.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64819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0F395-99B1-4DE7-B449-F0D7DA3E8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of des</a:t>
            </a:r>
            <a:endParaRPr lang="en-CA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87AAA-766C-4FEA-BD93-FA394087D93A}"/>
              </a:ext>
            </a:extLst>
          </p:cNvPr>
          <p:cNvSpPr/>
          <p:nvPr/>
        </p:nvSpPr>
        <p:spPr>
          <a:xfrm>
            <a:off x="1331684" y="2179013"/>
            <a:ext cx="10261527" cy="3416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Brute-Force Attack :</a:t>
            </a:r>
          </a:p>
          <a:p>
            <a:r>
              <a:rPr lang="en-CA" dirty="0"/>
              <a:t>DES can be broken using 255 encryptions. However, most applications use either 3DES with two keys</a:t>
            </a:r>
          </a:p>
          <a:p>
            <a:r>
              <a:rPr lang="en-CA" dirty="0"/>
              <a:t>(key size of 112) or 3DES with three keys (key size of 168) that makes DES resistant to brute-force attacks. </a:t>
            </a:r>
          </a:p>
          <a:p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Differential Cryptanalysis :</a:t>
            </a:r>
          </a:p>
          <a:p>
            <a:r>
              <a:rPr lang="en-CA" dirty="0"/>
              <a:t>The designers of DES designed S-boxes and choose 16 as the number of rounds to make DES specifically </a:t>
            </a:r>
          </a:p>
          <a:p>
            <a:r>
              <a:rPr lang="en-CA" dirty="0"/>
              <a:t>resistant to this type of attack. </a:t>
            </a:r>
          </a:p>
          <a:p>
            <a:endParaRPr lang="en-CA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dirty="0"/>
              <a:t>Linear Cryptanalysis :</a:t>
            </a:r>
          </a:p>
          <a:p>
            <a:r>
              <a:rPr lang="en-CA" dirty="0"/>
              <a:t>DES is more vulnerable to linear cryptanalysis probably because it was not known to the designers of DES. </a:t>
            </a:r>
          </a:p>
          <a:p>
            <a:r>
              <a:rPr lang="en-CA" dirty="0"/>
              <a:t>S-boxes are not very resistant it. DES can be broken using 243 pairs of known plaintexts which is practically</a:t>
            </a:r>
          </a:p>
          <a:p>
            <a:r>
              <a:rPr lang="en-CA" dirty="0"/>
              <a:t>very unlikely. </a:t>
            </a:r>
          </a:p>
        </p:txBody>
      </p:sp>
    </p:spTree>
    <p:extLst>
      <p:ext uri="{BB962C8B-B14F-4D97-AF65-F5344CB8AC3E}">
        <p14:creationId xmlns:p14="http://schemas.microsoft.com/office/powerpoint/2010/main" val="2811244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272D97C-1E12-457C-8942-2BCDC2B143E4}"/>
              </a:ext>
            </a:extLst>
          </p:cNvPr>
          <p:cNvSpPr/>
          <p:nvPr/>
        </p:nvSpPr>
        <p:spPr>
          <a:xfrm>
            <a:off x="4565997" y="2967335"/>
            <a:ext cx="306000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</a:t>
            </a:r>
            <a:endParaRPr lang="en-US" sz="5400" b="0" cap="none" spc="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869539-524B-4B8A-BA77-D9325FD8478B}"/>
              </a:ext>
            </a:extLst>
          </p:cNvPr>
          <p:cNvSpPr txBox="1"/>
          <p:nvPr/>
        </p:nvSpPr>
        <p:spPr>
          <a:xfrm>
            <a:off x="9055223" y="5655076"/>
            <a:ext cx="29207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Ref : Textbook and Internet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48181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119</TotalTime>
  <Words>380</Words>
  <Application>Microsoft Office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Gill Sans MT</vt:lpstr>
      <vt:lpstr>Wingdings</vt:lpstr>
      <vt:lpstr>Gallery</vt:lpstr>
      <vt:lpstr>PowerPoint Presentation</vt:lpstr>
      <vt:lpstr>System SPECIFICATION</vt:lpstr>
      <vt:lpstr>SYSTEM DESIGN</vt:lpstr>
      <vt:lpstr>KEY Generation step</vt:lpstr>
      <vt:lpstr>Key generation in system</vt:lpstr>
      <vt:lpstr>Encryption &amp; DECRYPTION step</vt:lpstr>
      <vt:lpstr>Encryption step in system</vt:lpstr>
      <vt:lpstr>decryption step in system</vt:lpstr>
      <vt:lpstr>Example of des system</vt:lpstr>
      <vt:lpstr>PROPERTIES</vt:lpstr>
      <vt:lpstr>Weaknesses </vt:lpstr>
      <vt:lpstr>Security of des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MehakPC</dc:creator>
  <cp:lastModifiedBy>MehakPC</cp:lastModifiedBy>
  <cp:revision>15</cp:revision>
  <dcterms:created xsi:type="dcterms:W3CDTF">2019-01-23T09:47:46Z</dcterms:created>
  <dcterms:modified xsi:type="dcterms:W3CDTF">2019-01-28T04:31:54Z</dcterms:modified>
</cp:coreProperties>
</file>